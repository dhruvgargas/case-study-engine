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D6FB8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F2933"/>
                </a:solidFill>
              </a:defRPr>
            </a:pPr>
            <a:r>
              <a:t>Our best proof is locked in email threads - and the easy version of it is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1F2933"/>
                </a:solidFill>
              </a:defRPr>
            </a:pPr>
            <a:r>
              <a:t>The sales draft for this project said: 74% → 97% compliance, zero accidents, ₹2.3 Cr saved.</a:t>
            </a:r>
          </a:p>
          <a:p>
            <a:pPr>
              <a:spcAft>
                <a:spcPts val="800"/>
              </a:spcAft>
              <a:defRPr sz="1700" b="0">
                <a:solidFill>
                  <a:srgbClr val="1F2933"/>
                </a:solidFill>
              </a:defRPr>
            </a:pPr>
            <a:r>
              <a:t>Every one of those fails against the record: mixed baselines, seven months of no injuries claimed as a result, savings the client's finance team had already rejected.</a:t>
            </a:r>
          </a:p>
          <a:p>
            <a:pPr>
              <a:spcAft>
                <a:spcPts val="800"/>
              </a:spcAft>
              <a:defRPr sz="1700" b="0">
                <a:solidFill>
                  <a:srgbClr val="1F2933"/>
                </a:solidFill>
              </a:defRPr>
            </a:pPr>
            <a:r>
              <a:t>The client said no to the WhatsApp approval, and warned that 'cement major' with those numbers names them.</a:t>
            </a:r>
          </a:p>
          <a:p>
            <a:pPr>
              <a:spcAft>
                <a:spcPts val="800"/>
              </a:spcAft>
              <a:defRPr sz="1700" b="0">
                <a:solidFill>
                  <a:srgbClr val="1F2933"/>
                </a:solidFill>
              </a:defRPr>
            </a:pPr>
            <a:r>
              <a:t>Today a person spends days digging, and still gets it wrong.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286000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6B7280"/>
                </a:solidFill>
              </a:defRPr>
            </a:pPr>
            <a:r>
              <a:t>What a buyer, a plant team and a legal team need instead:</a:t>
            </a:r>
          </a:p>
          <a:p>
            <a:pPr>
              <a:spcAft>
                <a:spcPts val="800"/>
              </a:spcAft>
              <a:defRPr sz="1700" b="0">
                <a:solidFill>
                  <a:srgbClr val="6B7280"/>
                </a:solidFill>
              </a:defRPr>
            </a:pPr>
            <a:r>
              <a:t>• numbers measured the way the client signed for</a:t>
            </a:r>
          </a:p>
          <a:p>
            <a:pPr>
              <a:spcAft>
                <a:spcPts val="800"/>
              </a:spcAft>
              <a:defRPr sz="1700" b="0">
                <a:solidFill>
                  <a:srgbClr val="6B7280"/>
                </a:solidFill>
              </a:defRPr>
            </a:pPr>
            <a:r>
              <a:t>• missed targets shown as missed, and how they were fixed</a:t>
            </a:r>
          </a:p>
          <a:p>
            <a:pPr>
              <a:spcAft>
                <a:spcPts val="800"/>
              </a:spcAft>
              <a:defRPr sz="1700" b="0">
                <a:solidFill>
                  <a:srgbClr val="6B7280"/>
                </a:solidFill>
              </a:defRPr>
            </a:pPr>
            <a:r>
              <a:t>• credit shared with what the client did</a:t>
            </a:r>
          </a:p>
          <a:p>
            <a:pPr>
              <a:spcAft>
                <a:spcPts val="800"/>
              </a:spcAft>
              <a:defRPr sz="1700" b="0">
                <a:solidFill>
                  <a:srgbClr val="6B7280"/>
                </a:solidFill>
              </a:defRPr>
            </a:pPr>
            <a:r>
              <a:t>• nothing that identifies the client, alone or combined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D6FB8"/>
                </a:solidFill>
              </a:defRPr>
            </a:pPr>
            <a:r>
              <a:t>THE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F2933"/>
                </a:solidFill>
              </a:defRPr>
            </a:pPr>
            <a:r>
              <a:t>Nine agents, one rule: no line leaves without a file behind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F2933"/>
                </a:solidFill>
              </a:defRPr>
            </a:pPr>
            <a:r>
              <a:t>Librarian → Extractor → Historian → Analyst → Exposure officer → Writer → Fact-checker → Media → Approval clerk → STOP for a person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F2933"/>
                </a:solidFill>
              </a:defRPr>
            </a:pPr>
            <a:r>
              <a:t>• 157 evidence items, every quote verified word-for-word to file:line</a:t>
            </a:r>
          </a:p>
          <a:p>
            <a:pPr>
              <a:spcAft>
                <a:spcPts val="800"/>
              </a:spcAft>
              <a:defRPr sz="1600" b="0">
                <a:solidFill>
                  <a:srgbClr val="1F2933"/>
                </a:solidFill>
              </a:defRPr>
            </a:pPr>
            <a:r>
              <a:t>• 54 metrics recomputed from raw data; reproduces the client's acceptance certificate exactly (91.1%, −46%, 4.9 min, 9.7%)</a:t>
            </a:r>
          </a:p>
          <a:p>
            <a:pPr>
              <a:spcAft>
                <a:spcPts val="800"/>
              </a:spcAft>
              <a:defRPr sz="1600" b="0">
                <a:solidFill>
                  <a:srgbClr val="1F2933"/>
                </a:solidFill>
              </a:defRPr>
            </a:pPr>
            <a:r>
              <a:t>• Refuses: untraceable numbers, ruled-out claims (zero LTIs, 97%), identifiers (names, places, capacity, camera count, weighbridge press release, GPS in a photo)</a:t>
            </a:r>
          </a:p>
          <a:p>
            <a:pPr>
              <a:spcAft>
                <a:spcPts val="800"/>
              </a:spcAft>
              <a:defRPr sz="1600" b="0">
                <a:solidFill>
                  <a:srgbClr val="1F2933"/>
                </a:solidFill>
              </a:defRPr>
            </a:pPr>
            <a:r>
              <a:t>• Two signed approvals, tied to the pack's hash; plant approval alone does not 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834640"/>
            <a:ext cx="53035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6B7280"/>
                </a:solidFill>
              </a:defRPr>
            </a:pPr>
            <a:r>
              <a:t>Runs on another project untouched: only project.json changes (tested on a second, different library).</a:t>
            </a:r>
          </a:p>
          <a:p>
            <a:pPr>
              <a:spcAft>
                <a:spcPts val="800"/>
              </a:spcAft>
              <a:defRPr sz="1600" b="0">
                <a:solidFill>
                  <a:srgbClr val="6B7280"/>
                </a:solidFill>
              </a:defRPr>
            </a:pPr>
            <a:r>
              <a:t>9 automated checks pass, incl. a refusal test and a stop-for-a-person test.</a:t>
            </a:r>
          </a:p>
          <a:p>
            <a:pPr>
              <a:spcAft>
                <a:spcPts val="800"/>
              </a:spcAft>
              <a:defRPr sz="1600" b="0">
                <a:solidFill>
                  <a:srgbClr val="6B7280"/>
                </a:solidFill>
              </a:defRPr>
            </a:pPr>
            <a:r>
              <a:t>Claude writes and extracts with --llm; the checker, calculator and gate are code, so the model can propose but never publish.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1D6FB8"/>
                </a:solidFill>
              </a:defRPr>
            </a:pPr>
            <a:r>
              <a:t>THE RESULT, READY FOR A YES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6400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600" b="1">
                <a:solidFill>
                  <a:srgbClr val="1F2933"/>
                </a:solidFill>
              </a:defRPr>
            </a:pPr>
            <a:r>
              <a:t>Real PPE compliance 69% → 91% in an eight-week pilot - and the story a client can 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F2933"/>
                </a:solidFill>
              </a:defRPr>
            </a:pPr>
            <a:r>
              <a:t>Gatekeeper: one-page fact sheet - no video leaves the plant, text-only alerts, outage owned and fixed.</a:t>
            </a:r>
          </a:p>
          <a:p>
            <a:pPr>
              <a:spcAft>
                <a:spcPts val="800"/>
              </a:spcAft>
              <a:defRPr sz="1500" b="0">
                <a:solidFill>
                  <a:srgbClr val="1F2933"/>
                </a:solidFill>
              </a:defRPr>
            </a:pPr>
            <a:r>
              <a:t>User: 'I showed the photo. After that, no argument.' False alarms 20% → under 10%, alerts acknowledged in ~2 min.</a:t>
            </a:r>
          </a:p>
          <a:p>
            <a:pPr>
              <a:spcAft>
                <a:spcPts val="800"/>
              </a:spcAft>
              <a:defRPr sz="1500" b="0">
                <a:solidFill>
                  <a:srgbClr val="1F2933"/>
                </a:solidFill>
              </a:defRPr>
            </a:pPr>
            <a:r>
              <a:t>Buyer: gate turnaround −24% like-for-like, money only where finance measured it, payback in the client's own words.</a:t>
            </a:r>
          </a:p>
          <a:p>
            <a:pPr>
              <a:spcAft>
                <a:spcPts val="800"/>
              </a:spcAft>
              <a:defRPr sz="1500" b="0">
                <a:solidFill>
                  <a:srgbClr val="1F2933"/>
                </a:solidFill>
              </a:defRPr>
            </a:pPr>
            <a:r>
              <a:t>Approval: anonymised / named later / internal only / no - reply by 18 Nov, withdraw any time.</a:t>
            </a:r>
          </a:p>
        </p:txBody>
      </p:sp>
      <p:pic>
        <p:nvPicPr>
          <p:cNvPr id="5" name="Picture 4" descr="chart_compliance_coh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94560"/>
            <a:ext cx="5577840" cy="301203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